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UNIFIED AI OPS PLATFORM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01 / 14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86384" y="1261872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96112" y="1371600"/>
            <a:ext cx="109728" cy="109728"/>
          </a:xfrm>
          <a:prstGeom prst="ellipse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" y="1339596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可观测性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029968" y="1261872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39696" y="1371600"/>
            <a:ext cx="109728" cy="109728"/>
          </a:xfrm>
          <a:prstGeom prst="ellipse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22576" y="1339596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事件墙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73552" y="1261872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383280" y="1371600"/>
            <a:ext cx="109728" cy="109728"/>
          </a:xfrm>
          <a:prstGeom prst="ellipse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66160" y="1339596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任务中心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17136" y="1261872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26864" y="1371600"/>
            <a:ext cx="109728" cy="109728"/>
          </a:xfrm>
          <a:prstGeom prst="ellipse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09744" y="1339596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AIOps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6384" y="1920240"/>
            <a:ext cx="502920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4200" b="1">
                <a:solidFill>
                  <a:srgbClr val="20242A"/>
                </a:solidFill>
                <a:latin typeface="Microsoft YaHei"/>
              </a:rPr>
              <a:t>SxDevOps
AI Agent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384" y="3346703"/>
            <a:ext cx="4389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1">
                <a:solidFill>
                  <a:srgbClr val="2FA7A0"/>
                </a:solidFill>
                <a:latin typeface="Microsoft YaHei"/>
              </a:rPr>
              <a:t>智能运维中枢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384" y="3931920"/>
            <a:ext cx="489204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68717A"/>
                </a:solidFill>
                <a:latin typeface="Microsoft YaHei"/>
              </a:rPr>
              <a:t>把告警、日志、链路、事件、任务和平台资产变成 Agent 可调用的事实工具，让运维从“到处查系统”升级为“问系统、看证据、确认动作”。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82512" y="1207008"/>
            <a:ext cx="5074920" cy="4160520"/>
          </a:xfrm>
          <a:prstGeom prst="roundRect">
            <a:avLst>
              <a:gd name="adj" fmla="val 3500"/>
            </a:avLst>
          </a:prstGeom>
          <a:solidFill>
            <a:srgbClr val="22282D"/>
          </a:solidFill>
          <a:ln>
            <a:solidFill>
              <a:srgbClr val="4A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0" y="1371600"/>
            <a:ext cx="4069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AI Agent Console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799064" y="1344168"/>
            <a:ext cx="438912" cy="219456"/>
          </a:xfrm>
          <a:prstGeom prst="roundRect">
            <a:avLst>
              <a:gd name="adj" fmla="val 40000"/>
            </a:avLst>
          </a:prstGeom>
          <a:solidFill>
            <a:srgbClr val="3F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72216" y="1380744"/>
            <a:ext cx="29260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FFFFFF"/>
                </a:solidFill>
                <a:latin typeface="Consolas"/>
              </a:rPr>
              <a:t>LIVE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83680" y="1737360"/>
            <a:ext cx="1062990" cy="310896"/>
          </a:xfrm>
          <a:prstGeom prst="roundRect">
            <a:avLst>
              <a:gd name="adj" fmla="val 35000"/>
            </a:avLst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83680" y="1815084"/>
            <a:ext cx="106299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可观测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719822" y="1737360"/>
            <a:ext cx="1062990" cy="310896"/>
          </a:xfrm>
          <a:prstGeom prst="roundRect">
            <a:avLst>
              <a:gd name="adj" fmla="val 35000"/>
            </a:avLst>
          </a:prstGeom>
          <a:solidFill>
            <a:srgbClr val="30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19822" y="1815084"/>
            <a:ext cx="106299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事件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855964" y="1737360"/>
            <a:ext cx="1062990" cy="310896"/>
          </a:xfrm>
          <a:prstGeom prst="roundRect">
            <a:avLst>
              <a:gd name="adj" fmla="val 35000"/>
            </a:avLst>
          </a:prstGeom>
          <a:solidFill>
            <a:srgbClr val="30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55964" y="1815084"/>
            <a:ext cx="106299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992106" y="1737360"/>
            <a:ext cx="1062990" cy="310896"/>
          </a:xfrm>
          <a:prstGeom prst="roundRect">
            <a:avLst>
              <a:gd name="adj" fmla="val 35000"/>
            </a:avLst>
          </a:prstGeom>
          <a:solidFill>
            <a:srgbClr val="30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92106" y="1815084"/>
            <a:ext cx="106299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0" y="2231136"/>
            <a:ext cx="1417320" cy="566928"/>
          </a:xfrm>
          <a:prstGeom prst="roundRect">
            <a:avLst>
              <a:gd name="adj" fmla="val 5000"/>
            </a:avLst>
          </a:prstGeom>
          <a:solidFill>
            <a:srgbClr val="2C3339"/>
          </a:solidFill>
          <a:ln>
            <a:solidFill>
              <a:srgbClr val="444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93408" y="23317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C83D3D"/>
                </a:solidFill>
                <a:latin typeface="Consolas"/>
              </a:rPr>
              <a:t>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87768" y="2386584"/>
            <a:ext cx="64922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Microsoft YaHei"/>
              </a:rPr>
              <a:t>活跃告警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74152" y="2231136"/>
            <a:ext cx="1417320" cy="566928"/>
          </a:xfrm>
          <a:prstGeom prst="roundRect">
            <a:avLst>
              <a:gd name="adj" fmla="val 5000"/>
            </a:avLst>
          </a:prstGeom>
          <a:solidFill>
            <a:srgbClr val="2C3339"/>
          </a:solidFill>
          <a:ln>
            <a:solidFill>
              <a:srgbClr val="444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83880" y="23317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D68B36"/>
                </a:solidFill>
                <a:latin typeface="Consolas"/>
              </a:rPr>
              <a:t>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78240" y="2386584"/>
            <a:ext cx="64922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Microsoft YaHei"/>
              </a:rPr>
              <a:t>关键事件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564624" y="2231136"/>
            <a:ext cx="1417320" cy="566928"/>
          </a:xfrm>
          <a:prstGeom prst="roundRect">
            <a:avLst>
              <a:gd name="adj" fmla="val 5000"/>
            </a:avLst>
          </a:prstGeom>
          <a:solidFill>
            <a:srgbClr val="2C3339"/>
          </a:solidFill>
          <a:ln>
            <a:solidFill>
              <a:srgbClr val="444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74352" y="23317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A75BC2"/>
                </a:solidFill>
                <a:latin typeface="Consolas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68712" y="2386584"/>
            <a:ext cx="64922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Microsoft YaHei"/>
              </a:rPr>
              <a:t>待确认动作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38544" y="3081527"/>
            <a:ext cx="4114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CPU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50608" y="3113531"/>
            <a:ext cx="3520440" cy="64008"/>
          </a:xfrm>
          <a:prstGeom prst="rect">
            <a:avLst/>
          </a:prstGeom>
          <a:solidFill>
            <a:srgbClr val="464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150608" y="3113531"/>
            <a:ext cx="2393899" cy="64008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872216" y="3081527"/>
            <a:ext cx="329184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68%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38544" y="3410711"/>
            <a:ext cx="4114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MEM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50608" y="3442715"/>
            <a:ext cx="3520440" cy="64008"/>
          </a:xfrm>
          <a:prstGeom prst="rect">
            <a:avLst/>
          </a:prstGeom>
          <a:solidFill>
            <a:srgbClr val="464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150608" y="3442715"/>
            <a:ext cx="2605125" cy="64008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72216" y="3410711"/>
            <a:ext cx="329184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74%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38544" y="3739895"/>
            <a:ext cx="4114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ERR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50608" y="3771899"/>
            <a:ext cx="3520440" cy="64008"/>
          </a:xfrm>
          <a:prstGeom prst="rect">
            <a:avLst/>
          </a:prstGeom>
          <a:solidFill>
            <a:srgbClr val="464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150608" y="3771899"/>
            <a:ext cx="1478584" cy="64008"/>
          </a:xfrm>
          <a:prstGeom prst="rect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872216" y="3739895"/>
            <a:ext cx="329184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42%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38544" y="4069080"/>
            <a:ext cx="4114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TASK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50608" y="4101084"/>
            <a:ext cx="3520440" cy="64008"/>
          </a:xfrm>
          <a:prstGeom prst="rect">
            <a:avLst/>
          </a:prstGeom>
          <a:solidFill>
            <a:srgbClr val="464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150608" y="4101084"/>
            <a:ext cx="1901037" cy="64008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872216" y="4069080"/>
            <a:ext cx="329184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20" b="0">
                <a:solidFill>
                  <a:srgbClr val="FFFFFF"/>
                </a:solidFill>
                <a:latin typeface="Consolas"/>
              </a:rPr>
              <a:t>54%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583680" y="4507992"/>
            <a:ext cx="4672584" cy="566928"/>
          </a:xfrm>
          <a:prstGeom prst="roundRect">
            <a:avLst>
              <a:gd name="adj" fmla="val 6000"/>
            </a:avLst>
          </a:prstGeom>
          <a:solidFill>
            <a:srgbClr val="1B2025"/>
          </a:solidFill>
          <a:ln>
            <a:solidFill>
              <a:srgbClr val="3F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729984" y="4672584"/>
            <a:ext cx="43799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19" b="0">
                <a:solidFill>
                  <a:srgbClr val="FFFFFF"/>
                </a:solidFill>
                <a:latin typeface="Consolas"/>
              </a:rPr>
              <a:t>&gt; "分析 order-center 生产异常，并生成巡检任务草稿"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29984" y="4919472"/>
            <a:ext cx="4379976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2FA7A0"/>
                </a:solidFill>
                <a:latin typeface="Consolas"/>
              </a:rPr>
              <a:t>已调用：告警 / 日志 / Trace / 事件墙 / 任务中心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WHY AI AGENT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02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传统运维的核心问题：信息和动作被拆散了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排障不是缺少工具，而是缺少能把事实、事件和动作串起来的工作流。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542032"/>
            <a:ext cx="2505456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542032"/>
            <a:ext cx="73152" cy="1965960"/>
          </a:xfrm>
          <a:prstGeom prst="rect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724912"/>
            <a:ext cx="212140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告警散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108960"/>
            <a:ext cx="2121408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告警中心看到红点，但缺少日志、Trace、最近变更和资产上下文。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493008" y="2542032"/>
            <a:ext cx="2505456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493008" y="2542032"/>
            <a:ext cx="73152" cy="196596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12464" y="2724912"/>
            <a:ext cx="212140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事件散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12464" y="3108960"/>
            <a:ext cx="2121408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发布、执行、失败、审批、关键写操作散落在不同页面，难以复盘。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99632" y="2542032"/>
            <a:ext cx="2505456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99632" y="2542032"/>
            <a:ext cx="73152" cy="1965960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19088" y="2724912"/>
            <a:ext cx="212140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任务散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19088" y="3108960"/>
            <a:ext cx="2121408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巡检、命令、Playbook 与主机权限脱节，动作入口不统一。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906256" y="2542032"/>
            <a:ext cx="2505456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906256" y="2542032"/>
            <a:ext cx="73152" cy="196596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25712" y="2724912"/>
            <a:ext cx="212140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经验散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25712" y="3108960"/>
            <a:ext cx="2121408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排障路径依赖个人记忆，结论难沉淀，复用成本高。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86384" y="4919472"/>
            <a:ext cx="10625328" cy="731520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A7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2416" y="5102352"/>
            <a:ext cx="1011326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SxDevOps AI Agent 的定位不是再做一个聊天框，而是把平台已有能力包装成可控、可审计、可确认的智能工作流。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PRODUCT MAP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03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SxDevOps AI Agent = 四个核心能力的统一入口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Agent 不是替代平台页面，而是把平台能力转成自然语言可调度的运维接口。</a:t>
            </a:r>
          </a:p>
        </p:txBody>
      </p:sp>
      <p:sp>
        <p:nvSpPr>
          <p:cNvPr id="84" name="Oval 83"/>
          <p:cNvSpPr/>
          <p:nvPr/>
        </p:nvSpPr>
        <p:spPr>
          <a:xfrm>
            <a:off x="786384" y="2478024"/>
            <a:ext cx="475488" cy="475488"/>
          </a:xfrm>
          <a:prstGeom prst="ellipse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" y="2606040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08176" y="2459736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4F7CCF"/>
                </a:solidFill>
                <a:latin typeface="Microsoft YaHei"/>
              </a:rPr>
              <a:t>可观测性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08176" y="2798064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聚合告警、日志、链路追踪、Grafana 大屏，形成一条连续排障路径。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24128" y="2953512"/>
            <a:ext cx="0" cy="402336"/>
          </a:xfrm>
          <a:prstGeom prst="line">
            <a:avLst/>
          </a:prstGeom>
          <a:ln w="15240">
            <a:solidFill>
              <a:srgbClr val="4F7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86384" y="3355848"/>
            <a:ext cx="475488" cy="475488"/>
          </a:xfrm>
          <a:prstGeom prst="ellipse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6384" y="348386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08176" y="333756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C83D3D"/>
                </a:solidFill>
                <a:latin typeface="Microsoft YaHei"/>
              </a:rPr>
              <a:t>事件墙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08176" y="367588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聚焦最终执行结果与关键写操作，按业务线、环境、应用快速收敛故障范围。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024128" y="3831336"/>
            <a:ext cx="0" cy="402336"/>
          </a:xfrm>
          <a:prstGeom prst="line">
            <a:avLst/>
          </a:prstGeom>
          <a:ln w="15240">
            <a:solidFill>
              <a:srgbClr val="C8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86384" y="4233672"/>
            <a:ext cx="475488" cy="475488"/>
          </a:xfrm>
          <a:prstGeom prst="ellipse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6384" y="4361688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08176" y="4215384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D68B36"/>
                </a:solidFill>
                <a:latin typeface="Microsoft YaHei"/>
              </a:rPr>
              <a:t>任务中心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08176" y="4553712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查询最近任务、生成主机巡检/服务检查/批量命令任务草稿，确认后执行。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24128" y="4709160"/>
            <a:ext cx="0" cy="402336"/>
          </a:xfrm>
          <a:prstGeom prst="line">
            <a:avLst/>
          </a:prstGeom>
          <a:ln w="15240">
            <a:solidFill>
              <a:srgbClr val="D6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786384" y="5111496"/>
            <a:ext cx="475488" cy="475488"/>
          </a:xfrm>
          <a:prstGeom prst="ellipse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6384" y="5239512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08176" y="5093208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A75BC2"/>
                </a:solidFill>
                <a:latin typeface="Microsoft YaHei"/>
              </a:rPr>
              <a:t>AIOps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08176" y="5431536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LLM 负责理解与规划，MCP 提供事实，Skill 约束输出，后端负责安全与审计。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92824" y="2615184"/>
            <a:ext cx="4892040" cy="2011680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2F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48856" y="2798064"/>
            <a:ext cx="4379976" cy="1719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一句话：可观测性负责取证，事件墙负责复盘，任务中心负责行动，AIOps 负责把它们组织成一次可解释的运维处理链路。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OBSERVABILITY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04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可观测性平台：从告警入口走到证据闭环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日志、告警、Trace、Grafana 不再是四个孤立入口，而是 Agent 取证的统一事实层。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68880"/>
            <a:ext cx="2697480" cy="123444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68880"/>
            <a:ext cx="73152" cy="1234440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651760"/>
            <a:ext cx="23134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统一入口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035808"/>
            <a:ext cx="231343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平台总览聚合日志、告警、Trace、Grafana 摘要、入口和最近活动。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86384" y="3849624"/>
            <a:ext cx="2697480" cy="123444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6384" y="3849624"/>
            <a:ext cx="73152" cy="1234440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5840" y="4032504"/>
            <a:ext cx="23134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联动排障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" y="4416552"/>
            <a:ext cx="231343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告警可跳转日志、链路追踪和 Grafana，看同一条件下的上下文证据。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6384" y="5230367"/>
            <a:ext cx="2697480" cy="96012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86384" y="5230367"/>
            <a:ext cx="73152" cy="96012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413247"/>
            <a:ext cx="23134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Agent 工具化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5797295"/>
            <a:ext cx="231343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query_observability / query_alerts / query_logs / query_traces 变成模型可调用工具。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49624" y="2432304"/>
            <a:ext cx="7589520" cy="3822191"/>
          </a:xfrm>
          <a:prstGeom prst="roundRect">
            <a:avLst>
              <a:gd name="adj" fmla="val 2500"/>
            </a:avLst>
          </a:prstGeom>
          <a:solidFill>
            <a:srgbClr val="23282E"/>
          </a:solidFill>
          <a:ln>
            <a:solidFill>
              <a:srgbClr val="555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14216" y="2551176"/>
            <a:ext cx="726033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onsolas"/>
              </a:rPr>
              <a:t>Observability Console</a:t>
            </a:r>
          </a:p>
        </p:txBody>
      </p:sp>
      <p:pic>
        <p:nvPicPr>
          <p:cNvPr id="98" name="Picture 97" descr="logs-or-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2834640"/>
            <a:ext cx="7296912" cy="3273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EVENT WALL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05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事件墙：把关键结果沉淀成可追溯现场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事件墙不是流水账，而是围绕最终执行结果、关键写操作和失败定位的复盘面板。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14016"/>
            <a:ext cx="6272784" cy="3767328"/>
          </a:xfrm>
          <a:prstGeom prst="roundRect">
            <a:avLst>
              <a:gd name="adj" fmla="val 2500"/>
            </a:avLst>
          </a:prstGeom>
          <a:solidFill>
            <a:srgbClr val="23282E"/>
          </a:solidFill>
          <a:ln>
            <a:solidFill>
              <a:srgbClr val="555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0976" y="2532888"/>
            <a:ext cx="5943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onsolas"/>
              </a:rPr>
              <a:t>Event Wall</a:t>
            </a:r>
          </a:p>
        </p:txBody>
      </p:sp>
      <p:pic>
        <p:nvPicPr>
          <p:cNvPr id="86" name="Picture 85" descr="event-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816352"/>
            <a:ext cx="5980176" cy="3218688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7324344" y="2414016"/>
            <a:ext cx="4133087" cy="96012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324344" y="2414016"/>
            <a:ext cx="73152" cy="960120"/>
          </a:xfrm>
          <a:prstGeom prst="rect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596896"/>
            <a:ext cx="37490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失败定位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43800" y="2980944"/>
            <a:ext cx="3749039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按业务线、环境、应用过滤，快速看失败事件集中在哪个范围。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324344" y="3602736"/>
            <a:ext cx="4133087" cy="96012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24344" y="3602736"/>
            <a:ext cx="73152" cy="96012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43800" y="3785616"/>
            <a:ext cx="37490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操作审计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43800" y="4169664"/>
            <a:ext cx="3749039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只保留最终执行结果和关键写操作，默认过滤未执行的驳回审批流。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24344" y="4791456"/>
            <a:ext cx="4133087" cy="96012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324344" y="4791456"/>
            <a:ext cx="73152" cy="96012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43800" y="4974336"/>
            <a:ext cx="37490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Agent 复盘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43800" y="5358384"/>
            <a:ext cx="3749039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query_event_wall 能回答“最近生产失败了什么”“谁触发了关键变更”。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TASK CENTER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06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任务中心：让 Agent 从“会分析”走向“可行动”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动作型能力必须先生成任务草稿，再由用户确认，最终进入任务中心执行和审计。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78024"/>
            <a:ext cx="2491740" cy="178308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78024"/>
            <a:ext cx="73152" cy="1783080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查询任务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044952"/>
            <a:ext cx="2107692" cy="978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最近巡检、部署、命令执行、失败任务与耗时统计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278124.0" y="3374136"/>
            <a:ext cx="219456.0" cy="0"/>
          </a:xfrm>
          <a:prstGeom prst="line">
            <a:avLst/>
          </a:prstGeom>
          <a:ln w="17780">
            <a:solidFill>
              <a:srgbClr val="4F7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97580" y="2478024"/>
            <a:ext cx="2491740" cy="178308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97580" y="2478024"/>
            <a:ext cx="73152" cy="178308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17036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生成草稿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7036" y="3044952"/>
            <a:ext cx="2107692" cy="978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自动补齐目标主机、命令、超时、风险提示和执行策略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989320.0" y="3374136"/>
            <a:ext cx="219456.0" cy="0"/>
          </a:xfrm>
          <a:prstGeom prst="line">
            <a:avLst/>
          </a:prstGeom>
          <a:ln w="17780">
            <a:solidFill>
              <a:srgbClr val="A75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6208776" y="2478024"/>
            <a:ext cx="2491740" cy="178308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08776" y="2478024"/>
            <a:ext cx="73152" cy="178308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28232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二次确认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28232" y="3044952"/>
            <a:ext cx="2107692" cy="978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高风险动作由用户确认，避免误创建、误执行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700516.0" y="3374136"/>
            <a:ext cx="219456.0" cy="0"/>
          </a:xfrm>
          <a:prstGeom prst="line">
            <a:avLst/>
          </a:prstGeom>
          <a:ln w="17780">
            <a:solidFill>
              <a:srgbClr val="D6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8919972" y="2478024"/>
            <a:ext cx="2491740" cy="178308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9972" y="2478024"/>
            <a:ext cx="73152" cy="1783080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39428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落入中心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39428" y="3044952"/>
            <a:ext cx="2107692" cy="978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确认后写入任务中心，执行结果进入事件墙和审计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6384" y="4690872"/>
            <a:ext cx="10625328" cy="841248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D6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2416" y="4873752"/>
            <a:ext cx="1011326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核心边界：咨询类问题直接返回事实；生成类问题先出草稿；执行类动作必须确认后才落任务。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AIOPS AGENT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07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AIOps：不是关键词查表，而是工具调用型智能体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LLM 负责理解和规划，平台负责工具、权限、安全边界、审计和兜底。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50592"/>
            <a:ext cx="3383280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50592"/>
            <a:ext cx="73152" cy="1965960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633472"/>
            <a:ext cx="2999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MCP 工具层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017520"/>
            <a:ext cx="2999232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CMDB、可观测性、事件墙、任务中心、容器、中间件等平台能力统一暴露为工具 schema。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40" y="4142232"/>
            <a:ext cx="29992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4F7CCF"/>
                </a:solidFill>
                <a:latin typeface="Consolas"/>
              </a:rPr>
              <a:t>query_observability · query_event_wall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07408" y="2450592"/>
            <a:ext cx="3383280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407408" y="2450592"/>
            <a:ext cx="73152" cy="196596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26864" y="2633472"/>
            <a:ext cx="2999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Skill 整形层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26864" y="3017520"/>
            <a:ext cx="2999232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约束回答结构，让告警分析、工单汇总、任务生成有稳定输出模板。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26864" y="4142232"/>
            <a:ext cx="29992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A75BC2"/>
                </a:solidFill>
                <a:latin typeface="Consolas"/>
              </a:rPr>
              <a:t>结论 / 依据 / 建议操作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028432" y="2450592"/>
            <a:ext cx="3383280" cy="19659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28432" y="2450592"/>
            <a:ext cx="73152" cy="196596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47888" y="2633472"/>
            <a:ext cx="29992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安全执行层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47888" y="3017520"/>
            <a:ext cx="2999232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工具白名单、参数清洗、RBAC、超时、异常兜底、动作确认和审计记录。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47888" y="4142232"/>
            <a:ext cx="29992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720" b="0">
                <a:solidFill>
                  <a:srgbClr val="D68B36"/>
                </a:solidFill>
                <a:latin typeface="Consolas"/>
              </a:rPr>
              <a:t>RBAC · Pending Action · Audit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6384" y="4846320"/>
            <a:ext cx="10625328" cy="914400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A7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42416" y="5029200"/>
            <a:ext cx="1011326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当前实现本质：用 LLM 做理解和规划，用 MCP 提供事实能力，用 Skill 约束回答结构，用平台后端负责安全、审计、执行与兜底。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TWO-STAGE ANSWER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08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一次问答链路：先取证，再整形，最后可审计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让最终回答稳定、可读、可追溯，不因为模型自由发挥丢失工具事实。</a:t>
            </a:r>
          </a:p>
        </p:txBody>
      </p:sp>
      <p:sp>
        <p:nvSpPr>
          <p:cNvPr id="84" name="Oval 83"/>
          <p:cNvSpPr/>
          <p:nvPr/>
        </p:nvSpPr>
        <p:spPr>
          <a:xfrm>
            <a:off x="786384" y="2395728"/>
            <a:ext cx="475488" cy="475488"/>
          </a:xfrm>
          <a:prstGeom prst="ellipse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" y="252374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08176" y="237744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2FA7A0"/>
                </a:solidFill>
                <a:latin typeface="Microsoft YaHei"/>
              </a:rPr>
              <a:t>用户提问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08176" y="271576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例如：分析生产 order-center 最近异常</a:t>
            </a:r>
          </a:p>
        </p:txBody>
      </p:sp>
      <p:sp>
        <p:nvSpPr>
          <p:cNvPr id="88" name="Oval 87"/>
          <p:cNvSpPr/>
          <p:nvPr/>
        </p:nvSpPr>
        <p:spPr>
          <a:xfrm>
            <a:off x="786384" y="3081528"/>
            <a:ext cx="475488" cy="475488"/>
          </a:xfrm>
          <a:prstGeom prst="ellipse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" y="320954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08176" y="306324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A75BC2"/>
                </a:solidFill>
                <a:latin typeface="Microsoft YaHei"/>
              </a:rPr>
              <a:t>LLM 规划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08176" y="340156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根据工具 schema 选择告警、日志、Trace、事件墙、任务工具</a:t>
            </a:r>
          </a:p>
        </p:txBody>
      </p:sp>
      <p:sp>
        <p:nvSpPr>
          <p:cNvPr id="92" name="Oval 91"/>
          <p:cNvSpPr/>
          <p:nvPr/>
        </p:nvSpPr>
        <p:spPr>
          <a:xfrm>
            <a:off x="786384" y="3767328"/>
            <a:ext cx="475488" cy="475488"/>
          </a:xfrm>
          <a:prstGeom prst="ellipse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389534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08176" y="374904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4F7CCF"/>
                </a:solidFill>
                <a:latin typeface="Microsoft YaHei"/>
              </a:rPr>
              <a:t>平台执行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08176" y="408736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后端按白名单执行工具，做权限、参数清洗、超时控制</a:t>
            </a:r>
          </a:p>
        </p:txBody>
      </p:sp>
      <p:sp>
        <p:nvSpPr>
          <p:cNvPr id="96" name="Oval 95"/>
          <p:cNvSpPr/>
          <p:nvPr/>
        </p:nvSpPr>
        <p:spPr>
          <a:xfrm>
            <a:off x="786384" y="4453128"/>
            <a:ext cx="475488" cy="475488"/>
          </a:xfrm>
          <a:prstGeom prst="ellipse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6384" y="458114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08176" y="443484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D68B36"/>
                </a:solidFill>
                <a:latin typeface="Microsoft YaHei"/>
              </a:rPr>
              <a:t>事实汇总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08176" y="477316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结构化工具结果形成证据集和代码兜底草稿</a:t>
            </a:r>
          </a:p>
        </p:txBody>
      </p:sp>
      <p:sp>
        <p:nvSpPr>
          <p:cNvPr id="100" name="Oval 99"/>
          <p:cNvSpPr/>
          <p:nvPr/>
        </p:nvSpPr>
        <p:spPr>
          <a:xfrm>
            <a:off x="786384" y="5138928"/>
            <a:ext cx="475488" cy="475488"/>
          </a:xfrm>
          <a:prstGeom prst="ellipse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6384" y="5266944"/>
            <a:ext cx="47548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08176" y="5120640"/>
            <a:ext cx="1000353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A75BC2"/>
                </a:solidFill>
                <a:latin typeface="Microsoft YaHei"/>
              </a:rPr>
              <a:t>Skill 整形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08176" y="5458968"/>
            <a:ext cx="1000353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按模板输出结论、依据、建议操作和可继续查看项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78624" y="2560320"/>
            <a:ext cx="4160520" cy="1737360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C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34656" y="2743200"/>
            <a:ext cx="3648456" cy="144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模型不直接访问数据库、不直接执行危险动作；它只能提出工具调用计划，实际执行始终由平台后端控制。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SCENARIO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09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典型场景：生产 order-center 异常分析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把告警、日志、链路、事件、任务串成一次完整的处理过程。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14016"/>
            <a:ext cx="5010912" cy="320040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14016"/>
            <a:ext cx="73152" cy="3200400"/>
          </a:xfrm>
          <a:prstGeom prst="rect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596896"/>
            <a:ext cx="462686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Before：人工排障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2980944"/>
            <a:ext cx="4626864" cy="2395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1. 打开告警平台看标签
2. 去日志中心查错误
3. 到链路追踪找慢调用
4. 翻最近发布和事件
5. 手工写结论和处理建议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64224" y="2414016"/>
            <a:ext cx="5010912" cy="320040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64224" y="2414016"/>
            <a:ext cx="73152" cy="320040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0" y="2596896"/>
            <a:ext cx="462686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After：AI Agent 处理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0" y="2980944"/>
            <a:ext cx="4626864" cy="2395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1. 自然语言发起分析
2. 自动调用告警 / 日志 / Trace / 事件墙
3. 输出结论、依据、风险和建议操作
4. 需要巡检时生成任务草稿
5. 用户确认后进入任务中心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6384" y="5998464"/>
            <a:ext cx="10625328" cy="658368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2F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42416" y="6181344"/>
            <a:ext cx="1011326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效果：排障链路从“找资料”压缩为“看证据、做判断、确认动作”。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SAFETY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10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安全护栏：让智能体可用，也可控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企业运维场景里，Agent 的边界比能力更重要。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386584"/>
            <a:ext cx="5202936" cy="120700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386584"/>
            <a:ext cx="73152" cy="1207008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569464"/>
            <a:ext cx="481888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RBAC 权限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2953512"/>
            <a:ext cx="481888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后端接口、前端路由、菜单和 WebSocket 场景统一做权限收敛。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08776" y="2386584"/>
            <a:ext cx="5202936" cy="120700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08776" y="2386584"/>
            <a:ext cx="73152" cy="1207008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28232" y="2569464"/>
            <a:ext cx="481888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工具白名单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28232" y="2953512"/>
            <a:ext cx="481888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模型只能调用平台注册过的工具，真正执行由后端完成。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6384" y="3867912"/>
            <a:ext cx="5202936" cy="120700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86384" y="3867912"/>
            <a:ext cx="73152" cy="1207008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4050792"/>
            <a:ext cx="481888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动作确认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4434840"/>
            <a:ext cx="481888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任务生成先进入待确认动作，用户确认后才写入任务中心。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08776" y="3867912"/>
            <a:ext cx="5202936" cy="120700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08776" y="3867912"/>
            <a:ext cx="73152" cy="1207008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28232" y="4050792"/>
            <a:ext cx="481888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审计回放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28232" y="4434840"/>
            <a:ext cx="481888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会话、工具调用、待确认动作和关键事件都可追踪。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86384" y="5696712"/>
            <a:ext cx="10625328" cy="749808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C8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2416" y="5879592"/>
            <a:ext cx="1011326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原则：回答基于事实，不凭空编造；动作经过确认，不越权执行；过程留下记录，不做黑盒运维。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ARCHITECTURE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11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平台架构：数据进来，Agent 编排，动作闭环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基于 Django / DRF / Channels 与 Vue 3，把平台工程能力产品化。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78024"/>
            <a:ext cx="2491740" cy="33375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78024"/>
            <a:ext cx="73152" cy="3337560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数据与事实层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044952"/>
            <a:ext cx="2107692" cy="2532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CMDB 资产
告警 / 日志 / Trace
事件墙
任务中心
容器 / 中间件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278124.0" y="4142232"/>
            <a:ext cx="219456.0" cy="0"/>
          </a:xfrm>
          <a:prstGeom prst="line">
            <a:avLst/>
          </a:prstGeom>
          <a:ln w="16510">
            <a:solidFill>
              <a:srgbClr val="4F7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97580" y="2478024"/>
            <a:ext cx="2491740" cy="33375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97580" y="2478024"/>
            <a:ext cx="73152" cy="333756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17036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智能体编排层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7036" y="3044952"/>
            <a:ext cx="2107692" cy="2532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Tool-calling
内置 MCP
外部 MCP
Skill 模板
兜底草稿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989320.0" y="4142232"/>
            <a:ext cx="219456.0" cy="0"/>
          </a:xfrm>
          <a:prstGeom prst="line">
            <a:avLst/>
          </a:prstGeom>
          <a:ln w="16510">
            <a:solidFill>
              <a:srgbClr val="A75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6208776" y="2478024"/>
            <a:ext cx="2491740" cy="33375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08776" y="2478024"/>
            <a:ext cx="73152" cy="333756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28232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安全控制层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28232" y="3044952"/>
            <a:ext cx="2107692" cy="2532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RBAC
参数清洗
工具白名单
动作确认
审计记录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700516.0" y="4142232"/>
            <a:ext cx="219456.0" cy="0"/>
          </a:xfrm>
          <a:prstGeom prst="line">
            <a:avLst/>
          </a:prstGeom>
          <a:ln w="16510">
            <a:solidFill>
              <a:srgbClr val="D6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8919972" y="2478024"/>
            <a:ext cx="2491740" cy="333756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9972" y="2478024"/>
            <a:ext cx="73152" cy="3337560"/>
          </a:xfrm>
          <a:prstGeom prst="rect">
            <a:avLst/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39428" y="2660904"/>
            <a:ext cx="210769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体验入口层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39428" y="3044952"/>
            <a:ext cx="2107692" cy="2532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右下角浮窗
AIOps 配置
会话历史
思考过程
动作卡片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VALUE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12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SxDevOps AI Agent 带来的产品价值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从工具集合升级为围绕事实、事件和动作的智能运维系统。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615184"/>
            <a:ext cx="2491740" cy="214884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" y="2944368"/>
            <a:ext cx="24917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4F7CCF"/>
                </a:solidFill>
                <a:latin typeface="Microsoft YaHei"/>
              </a:rPr>
              <a:t>可见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" y="3730752"/>
            <a:ext cx="2052828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告警、日志、Trace、Grafana、资产状态一眼可查。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497580" y="2615184"/>
            <a:ext cx="2491740" cy="214884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97580" y="2944368"/>
            <a:ext cx="24917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C83D3D"/>
                </a:solidFill>
                <a:latin typeface="Microsoft YaHei"/>
              </a:rPr>
              <a:t>可追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7036" y="3730752"/>
            <a:ext cx="2052828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事件墙记录最终结果、关键写操作和失败定位线索。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08776" y="2615184"/>
            <a:ext cx="2491740" cy="214884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08776" y="2944368"/>
            <a:ext cx="24917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D68B36"/>
                </a:solidFill>
                <a:latin typeface="Microsoft YaHei"/>
              </a:rPr>
              <a:t>可执行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28232" y="3730752"/>
            <a:ext cx="2052828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任务中心承接巡检、命令、Playbook 与批量操作。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19972" y="2615184"/>
            <a:ext cx="2491740" cy="214884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19972" y="2944368"/>
            <a:ext cx="24917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A75BC2"/>
                </a:solidFill>
                <a:latin typeface="Microsoft YaHei"/>
              </a:rPr>
              <a:t>可审计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39428" y="3730752"/>
            <a:ext cx="2052828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会话、工具调用、待确认动作、执行结果全链路留痕。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86384" y="5193792"/>
            <a:ext cx="10625328" cy="749808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2F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2416" y="5376672"/>
            <a:ext cx="1011326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最终效果：少切系统，少拼证据，少靠口头经验，多用事实驱动、多用确认动作闭环。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ROADMAP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13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1060704"/>
            <a:ext cx="1062532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000" b="1">
                <a:solidFill>
                  <a:srgbClr val="20242A"/>
                </a:solidFill>
                <a:latin typeface="Microsoft YaHei"/>
              </a:rPr>
              <a:t>下一步：从可观测智能体走向运维执行智能体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1847088"/>
            <a:ext cx="8287755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68717A"/>
                </a:solidFill>
                <a:latin typeface="Microsoft YaHei"/>
              </a:rPr>
              <a:t>先把事实链路做可信，再把高频、低风险动作纳入自动化闭环。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6384" y="2478024"/>
            <a:ext cx="3310128" cy="182880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" y="2478024"/>
            <a:ext cx="73152" cy="1828800"/>
          </a:xfrm>
          <a:prstGeom prst="rect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2660904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模板族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3044952"/>
            <a:ext cx="292608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告警处置、工单汇总、成本分析、K8s 异常、任务生成等问题类型拥有独立 Skill 模板。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43984" y="2478024"/>
            <a:ext cx="3310128" cy="182880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443984" y="2478024"/>
            <a:ext cx="73152" cy="1828800"/>
          </a:xfrm>
          <a:prstGeom prst="rect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63440" y="2660904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MCP 扩展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63440" y="3044952"/>
            <a:ext cx="292608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继续扩展平台内置 MCP，同时增强外部 MCP 健康检查、工具发现、鉴权与超时诊断。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101584" y="2478024"/>
            <a:ext cx="3310128" cy="182880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01584" y="2478024"/>
            <a:ext cx="73152" cy="1828800"/>
          </a:xfrm>
          <a:prstGeom prst="rect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21040" y="2660904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0242A"/>
                </a:solidFill>
                <a:latin typeface="Microsoft YaHei"/>
              </a:rPr>
              <a:t>处置编排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21040" y="3044952"/>
            <a:ext cx="292608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8717A"/>
                </a:solidFill>
                <a:latin typeface="Microsoft YaHei"/>
              </a:rPr>
              <a:t>在只读诊断后，接入审批、命令模板、Runbook 和任务编排，形成低风险自动化闭环。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86384" y="4764024"/>
            <a:ext cx="10625328" cy="804672"/>
          </a:xfrm>
          <a:prstGeom prst="roundRect">
            <a:avLst>
              <a:gd name="adj" fmla="val 3500"/>
            </a:avLst>
          </a:prstGeom>
          <a:solidFill>
            <a:srgbClr val="F8F3EA"/>
          </a:solidFill>
          <a:ln w="15240">
            <a:solidFill>
              <a:srgbClr val="2F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2416" y="4946904"/>
            <a:ext cx="10113264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20242A"/>
                </a:solidFill>
                <a:latin typeface="Microsoft YaHei"/>
              </a:rPr>
              <a:t>演进路径：先可信取证，再标准输出，最后把可控动作接入任务中心。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" y="310896"/>
            <a:ext cx="11503152" cy="6236208"/>
          </a:xfrm>
          <a:prstGeom prst="roundRect">
            <a:avLst>
              <a:gd name="adj" fmla="val 3500"/>
            </a:avLst>
          </a:prstGeom>
          <a:solidFill>
            <a:srgbClr val="F6F1E8"/>
          </a:solidFill>
          <a:ln w="12700">
            <a:solidFill>
              <a:srgbClr val="E2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43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56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63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32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101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570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039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07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45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914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83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900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2589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7278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967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1344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033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0722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5411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88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9477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4166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8855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3544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32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2921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7610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2299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6988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16768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63656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10544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57432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4320" y="420624"/>
            <a:ext cx="0" cy="6016752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55778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80467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105156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129844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154533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179222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203911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228600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253288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277977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302666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327355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352044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" y="376732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200" y="401421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" y="426110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7200" y="450799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7200" y="475488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500176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" y="5248656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7200" y="5495544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5742432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5989320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7200" y="6236208"/>
            <a:ext cx="11283696" cy="0"/>
          </a:xfrm>
          <a:prstGeom prst="line">
            <a:avLst/>
          </a:prstGeom>
          <a:ln w="4445">
            <a:solidFill>
              <a:srgbClr val="E8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57200" y="420624"/>
            <a:ext cx="11283696" cy="6016752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E0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6384" y="55778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2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7532" y="617220"/>
            <a:ext cx="246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Sx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07008" y="5943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8512" y="603504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CLOSE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86384" y="6016752"/>
            <a:ext cx="10625328" cy="0"/>
          </a:xfrm>
          <a:prstGeom prst="line">
            <a:avLst/>
          </a:prstGeom>
          <a:ln w="12700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" y="6163056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Microsoft YaHei"/>
              </a:rPr>
              <a:t>可观测性 + 事件墙 + 任务中心 + AIOps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0192" y="6163056"/>
            <a:ext cx="7315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8717A"/>
                </a:solidFill>
                <a:latin typeface="Consolas"/>
              </a:rPr>
              <a:t>14 /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2066544"/>
            <a:ext cx="10625328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20242A"/>
                </a:solidFill>
                <a:latin typeface="Microsoft YaHei"/>
              </a:rPr>
              <a:t>SxDevOps AI Agent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00784" y="2935223"/>
            <a:ext cx="8796528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3000" b="1">
                <a:solidFill>
                  <a:srgbClr val="2FA7A0"/>
                </a:solidFill>
                <a:latin typeface="Microsoft YaHei"/>
              </a:rPr>
              <a:t>让运维从“查系统”升级为
“问系统、看证据、确认动作”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75888" y="4517136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785616" y="4626864"/>
            <a:ext cx="109728" cy="109728"/>
          </a:xfrm>
          <a:prstGeom prst="ellipse">
            <a:avLst/>
          </a:prstGeom>
          <a:solidFill>
            <a:srgbClr val="4F7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68496" y="4594860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可观测性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919472" y="4517136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029200" y="4626864"/>
            <a:ext cx="109728" cy="109728"/>
          </a:xfrm>
          <a:prstGeom prst="ellipse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80" y="4594860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事件墙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63056" y="4517136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272784" y="4626864"/>
            <a:ext cx="109728" cy="109728"/>
          </a:xfrm>
          <a:prstGeom prst="ellipse">
            <a:avLst/>
          </a:prstGeom>
          <a:solidFill>
            <a:srgbClr val="D6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5664" y="4594860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任务中心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06640" y="4517136"/>
            <a:ext cx="1115568" cy="329184"/>
          </a:xfrm>
          <a:prstGeom prst="roundRect">
            <a:avLst>
              <a:gd name="adj" fmla="val 45000"/>
            </a:avLst>
          </a:prstGeom>
          <a:solidFill>
            <a:srgbClr val="FAF7F0"/>
          </a:solidFill>
          <a:ln>
            <a:solidFill>
              <a:srgbClr val="D8C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516368" y="4626864"/>
            <a:ext cx="109728" cy="109728"/>
          </a:xfrm>
          <a:prstGeom prst="ellipse">
            <a:avLst/>
          </a:prstGeom>
          <a:solidFill>
            <a:srgbClr val="A7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99248" y="4594860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20242A"/>
                </a:solidFill>
                <a:latin typeface="Microsoft YaHei"/>
              </a:rPr>
              <a:t>AIOps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384" y="5221224"/>
            <a:ext cx="106253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68717A"/>
                </a:solidFill>
                <a:latin typeface="Microsoft YaHei"/>
              </a:rPr>
              <a:t>一个面向真实运维现场的智能运维 Agent 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